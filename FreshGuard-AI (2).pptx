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Amiri" panose="020B0604020202020204" charset="-78"/>
      <p:regular r:id="rId17"/>
    </p:embeddedFont>
    <p:embeddedFont>
      <p:font typeface="Beiruti Medium" panose="020B0604020202020204" charset="-78"/>
      <p:regular r:id="rId18"/>
    </p:embeddedFont>
    <p:embeddedFont>
      <p:font typeface="Beiruti" panose="020B0604020202020204" charset="-78"/>
      <p:regular r:id="rId19"/>
    </p:embeddedFont>
    <p:embeddedFont>
      <p:font typeface="Beiruti SemiBold" panose="020B0604020202020204" charset="-78"/>
      <p:regular r:id="rId20"/>
    </p:embeddedFont>
    <p:embeddedFont>
      <p:font typeface="Amiri Bold" panose="020B0604020202020204" charset="-78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965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نبدأ مع FreshGuard AI: منصة ذكاء اصطناعي تضمن بقاء المنتجات الزراعية طازجة من محطة التعبئة حتى وصولها للمستورد.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الأول: حجم المشكلة والفرصة في قطاع تصدير الخضار والفواكه الأردني.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أرقام أساسية تحكم حجم الفرصة: 22% نسبة الفاقد، أمام 586.7 ألف طن صادرات بقيمة 510.5 مليون دينار أردني.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أثر الحرارة ليس مجرد درجات مسجلة، بل تسارع مباشر في تدهور جودة المحصول وقصر عمره التخزيني.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طرف في السلسلة يخسر: من المزارع ومحطة التعبئة إلى الناقل والتاجر المستورد.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الثاني: الانتقال إلى الحل التكنولوجي المبتكر مع FreshGuard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جوهر الحل: كاميرات ذكية تراقب النضج، وحساسات تقيس المناخ، ومطابقة علمية وفق FAO وUC Davis، وتنبيهات فورية تمنع التلف.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المحور الثالث: نموذج العمل والباقات السعرية وخارطة الطريق نحو التوسع التجاري.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الباقات الثلاث المقترحة: Starter بـ 49 دينارًا، Growth بـ 199 دينارًا، و Business بـ 499 دينارًا، مع رسم تركيب تجريبي 150 دينارًا للشاحنة.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moa.gov.jo/Ar/NewsDetails/%D8%A7%D9%84%D8%AD%D9%86%D9%8A%D9%81%D8%A7%D8%AA___%D8%B2%D9%8A%D8%A7%D8%AF%D8%A9_%D8%A7%D9%84%D8%B5%D8%A7%D8%AF%D8%B1%D8%A7%D8%AA__346_%D9%85%D9%84%D9%8A%D9%88%D9%86_%D8%AF%D9%8A%D9%86%D8%A7%D8%B1_%D8%A8%D9%86%D8%B3%D8%A8%D8%A9_%D8%B2%D9%8A%D8%A7%D8%AF%D8%A9_3716_%D8%B9%D9%86_%D9%86%D9%81%D8%B3_%D8%A7%D9%84%D9%81%D8%AA%D8%B1%D8%A9_%D9%85%D9%86_%D8%A7%D9%84%D8%B9%D8%A7%D9%85_%D8%A7%D9%84%D9%85%D8%A7%D8%B6%D9%8A_2023" TargetMode="External"/><Relationship Id="rId4" Type="http://schemas.openxmlformats.org/officeDocument/2006/relationships/hyperlink" Target="https://jordan.un.org/en/211564-food-loss-and-food-waste-wfp-and-fa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0" y="0"/>
            <a:ext cx="6604140" cy="6858000"/>
          </a:xfrm>
          <a:prstGeom prst="rect">
            <a:avLst/>
          </a:prstGeom>
          <a:solidFill>
            <a:srgbClr val="0E2A23"/>
          </a:solidFill>
          <a:ln/>
        </p:spPr>
      </p:sp>
      <p:sp>
        <p:nvSpPr>
          <p:cNvPr id="3" name="Text 1"/>
          <p:cNvSpPr/>
          <p:nvPr/>
        </p:nvSpPr>
        <p:spPr>
          <a:xfrm>
            <a:off x="6095848" y="150921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C7067"/>
                </a:solidFill>
                <a:latin typeface="Beiruti Medium" pitchFamily="34" charset="0"/>
                <a:ea typeface="Beiruti Medium" pitchFamily="34" charset="-122"/>
                <a:cs typeface="Beiruti Medium" pitchFamily="34" charset="-120"/>
              </a:rPr>
              <a:t>FreshGuard AI · تقنية التبريد الذكي</a:t>
            </a:r>
            <a:endParaRPr lang="ar-SA" sz="1400" dirty="0"/>
          </a:p>
        </p:txBody>
      </p:sp>
      <p:sp>
        <p:nvSpPr>
          <p:cNvPr id="4" name="Text 2"/>
          <p:cNvSpPr/>
          <p:nvPr/>
        </p:nvSpPr>
        <p:spPr>
          <a:xfrm>
            <a:off x="6095848" y="1872357"/>
            <a:ext cx="4825879" cy="145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44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حماية جودة المنتجات الزراعية أثناء </a:t>
            </a:r>
            <a:r>
              <a:rPr lang="ar-SA" altLang="en-US" sz="4400" dirty="0">
                <a:solidFill>
                  <a:srgbClr val="C47608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النقل.</a:t>
            </a:r>
            <a:endParaRPr lang="ar-SA" sz="4400" dirty="0"/>
          </a:p>
        </p:txBody>
      </p:sp>
      <p:sp>
        <p:nvSpPr>
          <p:cNvPr id="5" name="Shape 3"/>
          <p:cNvSpPr/>
          <p:nvPr/>
        </p:nvSpPr>
        <p:spPr>
          <a:xfrm>
            <a:off x="10318492" y="3661668"/>
            <a:ext cx="603136" cy="38100"/>
          </a:xfrm>
          <a:prstGeom prst="roundRect">
            <a:avLst>
              <a:gd name="adj" fmla="val 49999"/>
            </a:avLst>
          </a:prstGeom>
          <a:solidFill>
            <a:srgbClr val="AEBDB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48" y="4007743"/>
            <a:ext cx="482587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التبريد الذكي لمراقبة وضبط سلسلة التبريد الزراعي لحظة بلحظة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5486263" y="5099943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C7067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عرض المستثمرين وشركاء القطاع الزراعي · 2026</a:t>
            </a:r>
            <a:endParaRPr lang="ar-SA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01662" cy="4501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EEF0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81" y="298053"/>
            <a:ext cx="6400640" cy="138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8400" dirty="0">
                <a:solidFill>
                  <a:srgbClr val="F5960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761981" y="1938834"/>
            <a:ext cx="6400640" cy="2773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84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حجم المشكلة </a:t>
            </a:r>
            <a:r>
              <a:rPr lang="ar-SA" altLang="en-US" sz="8400" dirty="0">
                <a:solidFill>
                  <a:srgbClr val="F5960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والفرصة</a:t>
            </a:r>
            <a:endParaRPr lang="ar-SA" sz="8400" dirty="0"/>
          </a:p>
        </p:txBody>
      </p:sp>
      <p:sp>
        <p:nvSpPr>
          <p:cNvPr id="6" name="Shape 3"/>
          <p:cNvSpPr/>
          <p:nvPr/>
        </p:nvSpPr>
        <p:spPr>
          <a:xfrm>
            <a:off x="6362541" y="5383510"/>
            <a:ext cx="800080" cy="31651"/>
          </a:xfrm>
          <a:prstGeom prst="roundRect">
            <a:avLst>
              <a:gd name="adj" fmla="val 49998"/>
            </a:avLst>
          </a:prstGeom>
          <a:solidFill>
            <a:srgbClr val="AEBDB6"/>
          </a:solidFill>
          <a:ln/>
        </p:spPr>
      </p:sp>
      <p:sp>
        <p:nvSpPr>
          <p:cNvPr id="7" name="Text 4"/>
          <p:cNvSpPr/>
          <p:nvPr/>
        </p:nvSpPr>
        <p:spPr>
          <a:xfrm>
            <a:off x="761981" y="5721648"/>
            <a:ext cx="64006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2200" dirty="0">
                <a:solidFill>
                  <a:srgbClr val="AEBDB6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تتوسع صادرات الخضار والفواكه إقليميًا، بينما تلتهم خسائر التبريد وسلاسل الإمداد حصة مباشرة من أرباح المنتجين والمصدّرين.</a:t>
            </a:r>
            <a:endParaRPr lang="ar-SA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144" y="812800"/>
            <a:ext cx="9143771" cy="561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3400" b="1" dirty="0">
                <a:solidFill>
                  <a:srgbClr val="0E2A23"/>
                </a:solidFill>
                <a:latin typeface="Amiri Bold" pitchFamily="34" charset="0"/>
                <a:ea typeface="Amiri Bold" pitchFamily="34" charset="-122"/>
                <a:cs typeface="Amiri Bold" pitchFamily="34" charset="-120"/>
              </a:rPr>
              <a:t>الأرقام والدراسات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058148" y="171063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CBD1C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589" y="2117725"/>
            <a:ext cx="6402327" cy="3503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76589" y="5735241"/>
            <a:ext cx="640232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الأمم المتحدة في الأردن (2022) ووزارة الزراعة الأردنية، التقرير الإحصائي السنوي 2024</a:t>
            </a:r>
            <a:endParaRPr lang="ar-SA" sz="1400" dirty="0"/>
          </a:p>
        </p:txBody>
      </p:sp>
      <p:sp>
        <p:nvSpPr>
          <p:cNvPr id="6" name="Text 3"/>
          <p:cNvSpPr/>
          <p:nvPr/>
        </p:nvSpPr>
        <p:spPr>
          <a:xfrm>
            <a:off x="812780" y="2262783"/>
            <a:ext cx="370672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800" dirty="0">
                <a:solidFill>
                  <a:srgbClr val="0E2A2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22% فاقد</a:t>
            </a:r>
            <a:endParaRPr lang="ar-SA" sz="2800" dirty="0"/>
          </a:p>
        </p:txBody>
      </p:sp>
      <p:sp>
        <p:nvSpPr>
          <p:cNvPr id="7" name="Text 4"/>
          <p:cNvSpPr/>
          <p:nvPr/>
        </p:nvSpPr>
        <p:spPr>
          <a:xfrm>
            <a:off x="812780" y="2931220"/>
            <a:ext cx="37067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>
              <a:lnSpc>
                <a:spcPct val="117000"/>
              </a:lnSpc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في الخضار والفواكه عبر مراحل سلسلة الإمداد في </a:t>
            </a:r>
            <a:r>
              <a:rPr lang="ar-SA" altLang="en-US" sz="1400" dirty="0" smtClean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الأردن</a:t>
            </a:r>
            <a:r>
              <a:rPr lang="ar-JO" altLang="en-US" sz="1400" dirty="0" smtClean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/>
            </a:r>
            <a:br>
              <a:rPr lang="ar-JO" altLang="en-US" sz="1400" dirty="0" smtClean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</a:br>
            <a:r>
              <a:rPr lang="ar-JO" sz="1400" dirty="0"/>
              <a:t>المصدر: </a:t>
            </a:r>
            <a:r>
              <a:rPr lang="ar-JO" sz="1400" dirty="0">
                <a:hlinkClick r:id="rId4"/>
              </a:rPr>
              <a:t>الأمم المتحدة في الأردن</a:t>
            </a:r>
            <a:endParaRPr lang="ar-SA" sz="1400" dirty="0"/>
          </a:p>
        </p:txBody>
      </p:sp>
      <p:sp>
        <p:nvSpPr>
          <p:cNvPr id="8" name="Text 5"/>
          <p:cNvSpPr/>
          <p:nvPr/>
        </p:nvSpPr>
        <p:spPr>
          <a:xfrm>
            <a:off x="812780" y="3592215"/>
            <a:ext cx="370672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800" dirty="0">
                <a:solidFill>
                  <a:srgbClr val="0E2A2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586.7 ألف طن</a:t>
            </a:r>
            <a:endParaRPr lang="ar-SA" sz="2800" dirty="0"/>
          </a:p>
        </p:txBody>
      </p:sp>
      <p:sp>
        <p:nvSpPr>
          <p:cNvPr id="9" name="Text 6"/>
          <p:cNvSpPr/>
          <p:nvPr/>
        </p:nvSpPr>
        <p:spPr>
          <a:xfrm>
            <a:off x="812780" y="4260652"/>
            <a:ext cx="37067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صادرات 2024، بزيادة تقارب 12% عن </a:t>
            </a:r>
            <a:r>
              <a:rPr lang="ar-SA" altLang="en-US" sz="1400" dirty="0" smtClean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2023</a:t>
            </a:r>
            <a:r>
              <a:rPr lang="ar-JO" altLang="en-US" sz="1400" dirty="0" smtClean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 </a:t>
            </a:r>
          </a:p>
          <a:p>
            <a:pPr algn="r" rtl="1">
              <a:lnSpc>
                <a:spcPct val="117000"/>
              </a:lnSpc>
            </a:pPr>
            <a:r>
              <a:rPr lang="ar-JO" sz="1400" dirty="0"/>
              <a:t>المصادر: </a:t>
            </a:r>
            <a:r>
              <a:rPr lang="ar-JO" sz="1400" dirty="0">
                <a:hlinkClick r:id="rId5"/>
              </a:rPr>
              <a:t>وزارة الزراعة الأردنية</a:t>
            </a:r>
            <a:endParaRPr lang="ar-SA" sz="1400" dirty="0"/>
          </a:p>
        </p:txBody>
      </p:sp>
      <p:sp>
        <p:nvSpPr>
          <p:cNvPr id="10" name="Text 7"/>
          <p:cNvSpPr/>
          <p:nvPr/>
        </p:nvSpPr>
        <p:spPr>
          <a:xfrm>
            <a:off x="812780" y="4921746"/>
            <a:ext cx="370672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rtl="1"/>
            <a:r>
              <a:rPr lang="en-US" sz="2800" dirty="0" smtClean="0">
                <a:latin typeface="Amiri" panose="020B0604020202020204" charset="-78"/>
                <a:ea typeface="Amiri" panose="020B0604020202020204" charset="-78"/>
                <a:cs typeface="Amiri" panose="020B0604020202020204" charset="-78"/>
              </a:rPr>
              <a:t>1.5 </a:t>
            </a:r>
            <a:r>
              <a:rPr lang="ar-JO" sz="2800" dirty="0" smtClean="0">
                <a:latin typeface="Amiri" panose="020B0604020202020204" charset="-78"/>
                <a:ea typeface="Amiri" panose="020B0604020202020204" charset="-78"/>
                <a:cs typeface="Amiri" panose="020B0604020202020204" charset="-78"/>
              </a:rPr>
              <a:t>مليار دينار</a:t>
            </a:r>
            <a:endParaRPr lang="ar-JO" sz="2800" dirty="0">
              <a:latin typeface="Amiri" panose="020B0604020202020204" charset="-78"/>
              <a:ea typeface="Amiri" panose="020B0604020202020204" charset="-78"/>
              <a:cs typeface="Amiri" panose="020B0604020202020204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2780" y="5590183"/>
            <a:ext cx="37067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JO" altLang="en-US" sz="1400" dirty="0" smtClean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صادرات الاردن الزراعية والغذائية لعام 2024</a:t>
            </a:r>
          </a:p>
          <a:p>
            <a:pPr algn="r" rtl="1">
              <a:lnSpc>
                <a:spcPct val="117000"/>
              </a:lnSpc>
            </a:pPr>
            <a:r>
              <a:rPr lang="ar-JO" sz="1400" dirty="0"/>
              <a:t>المصدر الرسمي </a:t>
            </a:r>
            <a:r>
              <a:rPr lang="ar-JO" sz="1400" dirty="0" smtClean="0"/>
              <a:t>: </a:t>
            </a:r>
            <a:r>
              <a:rPr lang="ar-JO" sz="1400" dirty="0"/>
              <a:t>وزارة الزراعة</a:t>
            </a:r>
            <a:endParaRPr lang="ar-SA" sz="1400" dirty="0"/>
          </a:p>
        </p:txBody>
      </p:sp>
      <p:sp>
        <p:nvSpPr>
          <p:cNvPr id="12" name="Shape 9"/>
          <p:cNvSpPr/>
          <p:nvPr/>
        </p:nvSpPr>
        <p:spPr>
          <a:xfrm>
            <a:off x="812780" y="3463081"/>
            <a:ext cx="3706720" cy="12700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3" name="Shape 10"/>
          <p:cNvSpPr/>
          <p:nvPr/>
        </p:nvSpPr>
        <p:spPr>
          <a:xfrm>
            <a:off x="812780" y="4805958"/>
            <a:ext cx="3706720" cy="12700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5" name="Rectangle 14"/>
          <p:cNvSpPr/>
          <p:nvPr/>
        </p:nvSpPr>
        <p:spPr>
          <a:xfrm>
            <a:off x="10955216" y="6510704"/>
            <a:ext cx="1160584" cy="290146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EEF0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2447925"/>
            <a:ext cx="5943451" cy="561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3400" b="1" dirty="0">
                <a:solidFill>
                  <a:srgbClr val="FFFFFF"/>
                </a:solidFill>
                <a:latin typeface="Amiri Bold" pitchFamily="34" charset="0"/>
                <a:ea typeface="Amiri Bold" pitchFamily="34" charset="-122"/>
                <a:cs typeface="Amiri Bold" pitchFamily="34" charset="-120"/>
              </a:rPr>
              <a:t>لماذا تهمّنا درجة الحرارة؟</a:t>
            </a:r>
            <a:endParaRPr lang="ar-SA" sz="3400" dirty="0"/>
          </a:p>
        </p:txBody>
      </p:sp>
      <p:sp>
        <p:nvSpPr>
          <p:cNvPr id="5" name="Shape 2"/>
          <p:cNvSpPr/>
          <p:nvPr/>
        </p:nvSpPr>
        <p:spPr>
          <a:xfrm>
            <a:off x="6013300" y="3345755"/>
            <a:ext cx="742931" cy="38100"/>
          </a:xfrm>
          <a:prstGeom prst="roundRect">
            <a:avLst>
              <a:gd name="adj" fmla="val 49999"/>
            </a:avLst>
          </a:prstGeom>
          <a:solidFill>
            <a:srgbClr val="AEBDB6"/>
          </a:solidFill>
          <a:ln/>
        </p:spPr>
      </p:sp>
      <p:sp>
        <p:nvSpPr>
          <p:cNvPr id="6" name="Text 3"/>
          <p:cNvSpPr/>
          <p:nvPr/>
        </p:nvSpPr>
        <p:spPr>
          <a:xfrm>
            <a:off x="812780" y="3691830"/>
            <a:ext cx="5943451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2200" dirty="0">
                <a:solidFill>
                  <a:srgbClr val="FFFFFF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ارتفاع 10 درجات مئوية قد يضاعف معدل التدهور مرتين إلى ثلاث مرات في بعض المنتجات، وفق النوع وظروف التخزين.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812780" y="4836418"/>
            <a:ext cx="5943451" cy="31651"/>
          </a:xfrm>
          <a:prstGeom prst="roundRect">
            <a:avLst>
              <a:gd name="adj" fmla="val 49998"/>
            </a:avLst>
          </a:prstGeom>
          <a:solidFill>
            <a:srgbClr val="AEBDB6"/>
          </a:solidFill>
          <a:ln/>
        </p:spPr>
      </p:sp>
      <p:sp>
        <p:nvSpPr>
          <p:cNvPr id="8" name="Text 5"/>
          <p:cNvSpPr/>
          <p:nvPr/>
        </p:nvSpPr>
        <p:spPr>
          <a:xfrm>
            <a:off x="203195" y="5174555"/>
            <a:ext cx="65530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AEBDB6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المصدر: منظمة الأغذية والزراعة — FAO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144" y="812800"/>
            <a:ext cx="9143771" cy="561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3400" b="1" dirty="0">
                <a:solidFill>
                  <a:srgbClr val="0E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يتحمل الخسارة؟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058148" y="171063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CBD1C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126" y="2224782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4442" y="2821682"/>
            <a:ext cx="505447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المصدّرون ومحطات التعبئة</a:t>
            </a:r>
            <a:endParaRPr lang="ar-SA" sz="2100" dirty="0"/>
          </a:p>
        </p:txBody>
      </p:sp>
      <p:sp>
        <p:nvSpPr>
          <p:cNvPr id="6" name="Text 3"/>
          <p:cNvSpPr/>
          <p:nvPr/>
        </p:nvSpPr>
        <p:spPr>
          <a:xfrm>
            <a:off x="6095848" y="3371552"/>
            <a:ext cx="52830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تراجع الجودة عند الوصول</a:t>
            </a:r>
            <a:endParaRPr lang="ar-SA" sz="1700" dirty="0"/>
          </a:p>
        </p:txBody>
      </p:sp>
      <p:sp>
        <p:nvSpPr>
          <p:cNvPr id="7" name="Text 4"/>
          <p:cNvSpPr/>
          <p:nvPr/>
        </p:nvSpPr>
        <p:spPr>
          <a:xfrm>
            <a:off x="812780" y="2618482"/>
            <a:ext cx="505447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المزارعون والموردون</a:t>
            </a:r>
            <a:endParaRPr lang="ar-SA" sz="2100" dirty="0"/>
          </a:p>
        </p:txBody>
      </p:sp>
      <p:sp>
        <p:nvSpPr>
          <p:cNvPr id="8" name="Text 5"/>
          <p:cNvSpPr/>
          <p:nvPr/>
        </p:nvSpPr>
        <p:spPr>
          <a:xfrm>
            <a:off x="812780" y="3168352"/>
            <a:ext cx="52830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خسارة جزء من القيمة قبل البيع</a:t>
            </a:r>
            <a:endParaRPr lang="ar-SA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126" y="415260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2" y="4749502"/>
            <a:ext cx="505447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شركات النقل المبرد</a:t>
            </a:r>
            <a:endParaRPr lang="ar-SA" sz="2100" dirty="0"/>
          </a:p>
        </p:txBody>
      </p:sp>
      <p:sp>
        <p:nvSpPr>
          <p:cNvPr id="11" name="Text 7"/>
          <p:cNvSpPr/>
          <p:nvPr/>
        </p:nvSpPr>
        <p:spPr>
          <a:xfrm>
            <a:off x="6095848" y="5299373"/>
            <a:ext cx="52830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قراءات حرارة دون صورة كاملة للشحنة</a:t>
            </a:r>
            <a:endParaRPr lang="ar-SA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464" y="4152602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2780" y="4749502"/>
            <a:ext cx="505447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المستوردون وتجار الجملة</a:t>
            </a:r>
            <a:endParaRPr lang="ar-SA" sz="2100" dirty="0"/>
          </a:p>
        </p:txBody>
      </p:sp>
      <p:sp>
        <p:nvSpPr>
          <p:cNvPr id="14" name="Text 9"/>
          <p:cNvSpPr/>
          <p:nvPr/>
        </p:nvSpPr>
        <p:spPr>
          <a:xfrm>
            <a:off x="812780" y="5299373"/>
            <a:ext cx="52830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صعوبة التخطيط للبيع والتوزيع</a:t>
            </a:r>
            <a:endParaRPr lang="ar-SA" sz="1700" dirty="0"/>
          </a:p>
        </p:txBody>
      </p:sp>
      <p:sp>
        <p:nvSpPr>
          <p:cNvPr id="15" name="Shape 10"/>
          <p:cNvSpPr/>
          <p:nvPr/>
        </p:nvSpPr>
        <p:spPr>
          <a:xfrm>
            <a:off x="6095848" y="3917652"/>
            <a:ext cx="5283068" cy="12700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6" name="Shape 11"/>
          <p:cNvSpPr/>
          <p:nvPr/>
        </p:nvSpPr>
        <p:spPr>
          <a:xfrm>
            <a:off x="812780" y="3917652"/>
            <a:ext cx="5283068" cy="12700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7" name="Rectangle 16"/>
          <p:cNvSpPr/>
          <p:nvPr/>
        </p:nvSpPr>
        <p:spPr>
          <a:xfrm>
            <a:off x="10955216" y="6510704"/>
            <a:ext cx="1160584" cy="290146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EEF0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2372420"/>
            <a:ext cx="5943451" cy="211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64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الحل: </a:t>
            </a:r>
            <a:r>
              <a:rPr lang="ar-SA" altLang="en-US" sz="6400" dirty="0">
                <a:solidFill>
                  <a:srgbClr val="F5960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FreshGuard AI</a:t>
            </a:r>
            <a:endParaRPr lang="ar-SA" sz="6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144" y="812800"/>
            <a:ext cx="9143771" cy="561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3400" b="1" dirty="0">
                <a:solidFill>
                  <a:srgbClr val="0E2A23"/>
                </a:solidFill>
                <a:latin typeface="Amiri Bold" pitchFamily="34" charset="0"/>
                <a:ea typeface="Amiri Bold" pitchFamily="34" charset="-122"/>
                <a:cs typeface="Amiri Bold" pitchFamily="34" charset="-120"/>
              </a:rPr>
              <a:t>نراقب حالة المنتج، لا درجة الحرارة فقط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058148" y="171063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CBD1CC"/>
          </a:solidFill>
          <a:ln/>
        </p:spPr>
      </p:sp>
      <p:sp>
        <p:nvSpPr>
          <p:cNvPr id="4" name="Text 2"/>
          <p:cNvSpPr/>
          <p:nvPr/>
        </p:nvSpPr>
        <p:spPr>
          <a:xfrm>
            <a:off x="203195" y="2056705"/>
            <a:ext cx="111757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منظومة رصد ذكية تعمل عبر أربع مراحل متتابعة لحماية الشحنة</a:t>
            </a:r>
            <a:endParaRPr lang="ar-SA" sz="1400" dirty="0"/>
          </a:p>
        </p:txBody>
      </p:sp>
      <p:sp>
        <p:nvSpPr>
          <p:cNvPr id="5" name="Text 3"/>
          <p:cNvSpPr/>
          <p:nvPr/>
        </p:nvSpPr>
        <p:spPr>
          <a:xfrm>
            <a:off x="10174727" y="2565797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080372" y="3209330"/>
            <a:ext cx="2298543" cy="12601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7" name="Text 5"/>
          <p:cNvSpPr/>
          <p:nvPr/>
        </p:nvSpPr>
        <p:spPr>
          <a:xfrm>
            <a:off x="9080273" y="3349923"/>
            <a:ext cx="22986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18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مراقبة بالكاميرا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9080273" y="3850283"/>
            <a:ext cx="229864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متابعة بصرية دقيقة لمؤشرات النضج وتغير اللون والسطح بصورة مستمرة طوال مسار النقل.</a:t>
            </a:r>
            <a:endParaRPr lang="ar-SA" sz="1700" dirty="0"/>
          </a:p>
        </p:txBody>
      </p:sp>
      <p:sp>
        <p:nvSpPr>
          <p:cNvPr id="9" name="Text 7"/>
          <p:cNvSpPr/>
          <p:nvPr/>
        </p:nvSpPr>
        <p:spPr>
          <a:xfrm>
            <a:off x="7418896" y="2565797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324541" y="3209330"/>
            <a:ext cx="2298543" cy="12601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3349923"/>
            <a:ext cx="22986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18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قياس ظروف الشحنة</a:t>
            </a:r>
            <a:endParaRPr lang="ar-SA" sz="1800" dirty="0"/>
          </a:p>
        </p:txBody>
      </p:sp>
      <p:sp>
        <p:nvSpPr>
          <p:cNvPr id="12" name="Text 10"/>
          <p:cNvSpPr/>
          <p:nvPr/>
        </p:nvSpPr>
        <p:spPr>
          <a:xfrm>
            <a:off x="6324442" y="3850283"/>
            <a:ext cx="229864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رصد بيئي متزامن يشمل درجات الحرارة والرطوبة النسبية ومدة تعرض المنتج لتلك الظروف.</a:t>
            </a:r>
            <a:endParaRPr lang="ar-SA" sz="1700" dirty="0"/>
          </a:p>
        </p:txBody>
      </p:sp>
      <p:sp>
        <p:nvSpPr>
          <p:cNvPr id="13" name="Text 11"/>
          <p:cNvSpPr/>
          <p:nvPr/>
        </p:nvSpPr>
        <p:spPr>
          <a:xfrm>
            <a:off x="4663065" y="2565797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3568710" y="3209330"/>
            <a:ext cx="2298543" cy="12601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5" name="Text 13"/>
          <p:cNvSpPr/>
          <p:nvPr/>
        </p:nvSpPr>
        <p:spPr>
          <a:xfrm>
            <a:off x="3568611" y="3349923"/>
            <a:ext cx="22986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18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تحليل وفق المراجع</a:t>
            </a:r>
            <a:endParaRPr lang="ar-SA" sz="1800" dirty="0"/>
          </a:p>
        </p:txBody>
      </p:sp>
      <p:sp>
        <p:nvSpPr>
          <p:cNvPr id="16" name="Text 14"/>
          <p:cNvSpPr/>
          <p:nvPr/>
        </p:nvSpPr>
        <p:spPr>
          <a:xfrm>
            <a:off x="3568611" y="3850283"/>
            <a:ext cx="229864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مقارنة فورية لظروف النقل بنطاقات التخزين الموصى بها في الأبحاث الزراعية العالمية المعتمدة.</a:t>
            </a:r>
            <a:endParaRPr lang="ar-SA" sz="1700" dirty="0"/>
          </a:p>
        </p:txBody>
      </p:sp>
      <p:sp>
        <p:nvSpPr>
          <p:cNvPr id="17" name="Text 15"/>
          <p:cNvSpPr/>
          <p:nvPr/>
        </p:nvSpPr>
        <p:spPr>
          <a:xfrm>
            <a:off x="1907234" y="2565797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812879" y="3209330"/>
            <a:ext cx="2298543" cy="12601"/>
          </a:xfrm>
          <a:prstGeom prst="rect">
            <a:avLst/>
          </a:prstGeom>
          <a:solidFill>
            <a:srgbClr val="CBD1CC"/>
          </a:solidFill>
          <a:ln/>
        </p:spPr>
      </p:sp>
      <p:sp>
        <p:nvSpPr>
          <p:cNvPr id="19" name="Text 17"/>
          <p:cNvSpPr/>
          <p:nvPr/>
        </p:nvSpPr>
        <p:spPr>
          <a:xfrm>
            <a:off x="812780" y="3349923"/>
            <a:ext cx="22986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18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تنبيه أو ضبط آمن</a:t>
            </a:r>
            <a:endParaRPr lang="ar-SA" sz="1800" dirty="0"/>
          </a:p>
        </p:txBody>
      </p:sp>
      <p:sp>
        <p:nvSpPr>
          <p:cNvPr id="20" name="Text 18"/>
          <p:cNvSpPr/>
          <p:nvPr/>
        </p:nvSpPr>
        <p:spPr>
          <a:xfrm>
            <a:off x="812780" y="3850283"/>
            <a:ext cx="229864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إرسال إشعارات فورية وإتاحة التدخل الاستباقي لضبط التبريد فور رصد أي انحراف عن المعايير.</a:t>
            </a:r>
            <a:endParaRPr lang="ar-SA" sz="1700" dirty="0"/>
          </a:p>
        </p:txBody>
      </p:sp>
      <p:sp>
        <p:nvSpPr>
          <p:cNvPr id="21" name="Shape 19"/>
          <p:cNvSpPr/>
          <p:nvPr/>
        </p:nvSpPr>
        <p:spPr>
          <a:xfrm>
            <a:off x="812879" y="5458321"/>
            <a:ext cx="10566036" cy="31651"/>
          </a:xfrm>
          <a:prstGeom prst="roundRect">
            <a:avLst>
              <a:gd name="adj" fmla="val 49998"/>
            </a:avLst>
          </a:prstGeom>
          <a:solidFill>
            <a:srgbClr val="CBD1CC"/>
          </a:solidFill>
          <a:ln/>
        </p:spPr>
      </p:sp>
      <p:sp>
        <p:nvSpPr>
          <p:cNvPr id="22" name="Text 20"/>
          <p:cNvSpPr/>
          <p:nvPr/>
        </p:nvSpPr>
        <p:spPr>
          <a:xfrm>
            <a:off x="203195" y="5796459"/>
            <a:ext cx="111757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المراجع العلمية المعتمدة: منظمة الأغذية والزراعة (FAO) ومركز UC Davis لأبحاث ما بعد الحصاد</a:t>
            </a:r>
            <a:endParaRPr lang="ar-SA" sz="1400" dirty="0"/>
          </a:p>
        </p:txBody>
      </p:sp>
      <p:sp>
        <p:nvSpPr>
          <p:cNvPr id="23" name="Rectangle 22"/>
          <p:cNvSpPr/>
          <p:nvPr/>
        </p:nvSpPr>
        <p:spPr>
          <a:xfrm>
            <a:off x="10955216" y="6510704"/>
            <a:ext cx="1160584" cy="290146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EEF0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1981" y="298053"/>
            <a:ext cx="7213420" cy="138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en-US" sz="8400" dirty="0">
                <a:solidFill>
                  <a:srgbClr val="F5960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761981" y="1938834"/>
            <a:ext cx="7213420" cy="2773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84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نموذج العمل </a:t>
            </a:r>
            <a:r>
              <a:rPr lang="ar-SA" altLang="en-US" sz="8400" dirty="0">
                <a:solidFill>
                  <a:srgbClr val="F5960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والتوسع</a:t>
            </a:r>
            <a:endParaRPr lang="ar-SA" sz="8400" dirty="0"/>
          </a:p>
        </p:txBody>
      </p:sp>
      <p:sp>
        <p:nvSpPr>
          <p:cNvPr id="6" name="Shape 3"/>
          <p:cNvSpPr/>
          <p:nvPr/>
        </p:nvSpPr>
        <p:spPr>
          <a:xfrm>
            <a:off x="7073723" y="5383510"/>
            <a:ext cx="901677" cy="31651"/>
          </a:xfrm>
          <a:prstGeom prst="roundRect">
            <a:avLst>
              <a:gd name="adj" fmla="val 49998"/>
            </a:avLst>
          </a:prstGeom>
          <a:solidFill>
            <a:srgbClr val="AEBDB6"/>
          </a:solidFill>
          <a:ln/>
        </p:spPr>
      </p:sp>
      <p:sp>
        <p:nvSpPr>
          <p:cNvPr id="7" name="Text 4"/>
          <p:cNvSpPr/>
          <p:nvPr/>
        </p:nvSpPr>
        <p:spPr>
          <a:xfrm>
            <a:off x="761981" y="5721648"/>
            <a:ext cx="72134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2200" dirty="0">
                <a:solidFill>
                  <a:srgbClr val="AEBDB6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تسعير مرن يتماشى مع حجم الشحنات وتدفق العمليات الموسمية، مع مسار نمو مدروس يبدأ بالاختبار الميداني وينتهي بالتوسع الإقليمي.</a:t>
            </a:r>
            <a:endParaRPr lang="ar-SA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144" y="812800"/>
            <a:ext cx="9143771" cy="561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3400" b="1" dirty="0">
                <a:solidFill>
                  <a:srgbClr val="0E2A23"/>
                </a:solidFill>
                <a:latin typeface="Amiri Bold" pitchFamily="34" charset="0"/>
                <a:ea typeface="Amiri Bold" pitchFamily="34" charset="-122"/>
                <a:cs typeface="Amiri Bold" pitchFamily="34" charset="-120"/>
              </a:rPr>
              <a:t>باقات تناسب حجم الشحنات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058148" y="171063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CBD1CC"/>
          </a:solidFill>
          <a:ln/>
        </p:spPr>
      </p:sp>
      <p:sp>
        <p:nvSpPr>
          <p:cNvPr id="4" name="Shape 2"/>
          <p:cNvSpPr/>
          <p:nvPr/>
        </p:nvSpPr>
        <p:spPr>
          <a:xfrm>
            <a:off x="7958534" y="2056705"/>
            <a:ext cx="3420382" cy="3849191"/>
          </a:xfrm>
          <a:prstGeom prst="roundRect">
            <a:avLst>
              <a:gd name="adj" fmla="val 947"/>
            </a:avLst>
          </a:prstGeom>
          <a:noFill/>
          <a:ln w="25399">
            <a:solidFill>
              <a:srgbClr val="758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12527" y="2363093"/>
            <a:ext cx="2912394" cy="69751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</p:sp>
      <p:sp>
        <p:nvSpPr>
          <p:cNvPr id="6" name="Text 4"/>
          <p:cNvSpPr/>
          <p:nvPr/>
        </p:nvSpPr>
        <p:spPr>
          <a:xfrm>
            <a:off x="8212527" y="2739330"/>
            <a:ext cx="291239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Starter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12527" y="3251101"/>
            <a:ext cx="2912394" cy="10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6400" dirty="0">
                <a:solidFill>
                  <a:srgbClr val="0E2A2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49دينار</a:t>
            </a:r>
            <a:endParaRPr lang="ar-SA" sz="6400" dirty="0"/>
          </a:p>
        </p:txBody>
      </p:sp>
      <p:sp>
        <p:nvSpPr>
          <p:cNvPr id="8" name="Text 6"/>
          <p:cNvSpPr/>
          <p:nvPr/>
        </p:nvSpPr>
        <p:spPr>
          <a:xfrm>
            <a:off x="7958534" y="4590256"/>
            <a:ext cx="342038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لـ3 شحنات (نحو 16.3 دينارًا للشحنة)</a:t>
            </a:r>
            <a:endParaRPr lang="ar-SA" sz="1400" dirty="0"/>
          </a:p>
        </p:txBody>
      </p:sp>
      <p:sp>
        <p:nvSpPr>
          <p:cNvPr id="9" name="Text 7"/>
          <p:cNvSpPr/>
          <p:nvPr/>
        </p:nvSpPr>
        <p:spPr>
          <a:xfrm>
            <a:off x="7958534" y="5004197"/>
            <a:ext cx="342038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متابعة أساسية وتنبيهات عند الانحراف</a:t>
            </a:r>
            <a:endParaRPr lang="ar-SA" sz="1700" dirty="0"/>
          </a:p>
        </p:txBody>
      </p:sp>
      <p:sp>
        <p:nvSpPr>
          <p:cNvPr id="10" name="Shape 8"/>
          <p:cNvSpPr/>
          <p:nvPr/>
        </p:nvSpPr>
        <p:spPr>
          <a:xfrm>
            <a:off x="4385657" y="2056705"/>
            <a:ext cx="3420481" cy="3849191"/>
          </a:xfrm>
          <a:prstGeom prst="roundRect">
            <a:avLst>
              <a:gd name="adj" fmla="val 947"/>
            </a:avLst>
          </a:prstGeom>
          <a:noFill/>
          <a:ln w="25399">
            <a:solidFill>
              <a:srgbClr val="758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9750" y="2363093"/>
            <a:ext cx="2912394" cy="69751"/>
          </a:xfrm>
          <a:prstGeom prst="roundRect">
            <a:avLst>
              <a:gd name="adj" fmla="val 49999"/>
            </a:avLst>
          </a:prstGeom>
          <a:solidFill>
            <a:srgbClr val="0E2A23"/>
          </a:solidFill>
          <a:ln/>
        </p:spPr>
      </p:sp>
      <p:sp>
        <p:nvSpPr>
          <p:cNvPr id="12" name="Text 10"/>
          <p:cNvSpPr/>
          <p:nvPr/>
        </p:nvSpPr>
        <p:spPr>
          <a:xfrm>
            <a:off x="4639650" y="2739330"/>
            <a:ext cx="291249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Growth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39650" y="3251101"/>
            <a:ext cx="2912494" cy="10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6400" dirty="0">
                <a:solidFill>
                  <a:srgbClr val="0E2A2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199دينار</a:t>
            </a:r>
            <a:endParaRPr lang="ar-SA" sz="6400" dirty="0"/>
          </a:p>
        </p:txBody>
      </p:sp>
      <p:sp>
        <p:nvSpPr>
          <p:cNvPr id="14" name="Text 12"/>
          <p:cNvSpPr/>
          <p:nvPr/>
        </p:nvSpPr>
        <p:spPr>
          <a:xfrm>
            <a:off x="4385657" y="4590256"/>
            <a:ext cx="3420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لـ15 شحنة (نحو 13.3 دينارًا للشحنة)</a:t>
            </a:r>
            <a:endParaRPr lang="ar-SA" sz="1400" dirty="0"/>
          </a:p>
        </p:txBody>
      </p:sp>
      <p:sp>
        <p:nvSpPr>
          <p:cNvPr id="15" name="Text 13"/>
          <p:cNvSpPr/>
          <p:nvPr/>
        </p:nvSpPr>
        <p:spPr>
          <a:xfrm>
            <a:off x="4385657" y="5004197"/>
            <a:ext cx="342048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سجل الرحلات والتنبيهات وتقارير الشحنات</a:t>
            </a:r>
            <a:endParaRPr lang="ar-SA" sz="1700" dirty="0"/>
          </a:p>
        </p:txBody>
      </p:sp>
      <p:sp>
        <p:nvSpPr>
          <p:cNvPr id="16" name="Shape 14"/>
          <p:cNvSpPr/>
          <p:nvPr/>
        </p:nvSpPr>
        <p:spPr>
          <a:xfrm>
            <a:off x="812780" y="2056705"/>
            <a:ext cx="3420481" cy="3849191"/>
          </a:xfrm>
          <a:prstGeom prst="roundRect">
            <a:avLst>
              <a:gd name="adj" fmla="val 947"/>
            </a:avLst>
          </a:prstGeom>
          <a:noFill/>
          <a:ln w="25399">
            <a:solidFill>
              <a:srgbClr val="758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73" y="2363093"/>
            <a:ext cx="2912394" cy="69751"/>
          </a:xfrm>
          <a:prstGeom prst="roundRect">
            <a:avLst>
              <a:gd name="adj" fmla="val 49999"/>
            </a:avLst>
          </a:prstGeom>
          <a:solidFill>
            <a:srgbClr val="F5960F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773" y="2739330"/>
            <a:ext cx="291249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Business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66773" y="3251101"/>
            <a:ext cx="2912494" cy="10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6400" dirty="0">
                <a:solidFill>
                  <a:srgbClr val="0E2A2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499دينار</a:t>
            </a:r>
            <a:endParaRPr lang="ar-SA" sz="6400" dirty="0"/>
          </a:p>
        </p:txBody>
      </p:sp>
      <p:sp>
        <p:nvSpPr>
          <p:cNvPr id="20" name="Text 18"/>
          <p:cNvSpPr/>
          <p:nvPr/>
        </p:nvSpPr>
        <p:spPr>
          <a:xfrm>
            <a:off x="812780" y="4590256"/>
            <a:ext cx="3420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4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لـ50 شحنة (نحو 10 دنانير للشحنة)</a:t>
            </a:r>
            <a:endParaRPr lang="ar-SA" sz="1400" dirty="0"/>
          </a:p>
        </p:txBody>
      </p:sp>
      <p:sp>
        <p:nvSpPr>
          <p:cNvPr id="21" name="Text 19"/>
          <p:cNvSpPr/>
          <p:nvPr/>
        </p:nvSpPr>
        <p:spPr>
          <a:xfrm>
            <a:off x="1066773" y="5004197"/>
            <a:ext cx="2912494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تقارير جودة دورية ولوحة متابعة لعدة شحنات</a:t>
            </a:r>
            <a:endParaRPr lang="ar-SA" sz="1700" dirty="0"/>
          </a:p>
        </p:txBody>
      </p:sp>
      <p:sp>
        <p:nvSpPr>
          <p:cNvPr id="22" name="Text 20"/>
          <p:cNvSpPr/>
          <p:nvPr/>
        </p:nvSpPr>
        <p:spPr>
          <a:xfrm>
            <a:off x="203195" y="6159897"/>
            <a:ext cx="1117572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17000"/>
              </a:lnSpc>
              <a:buNone/>
            </a:pPr>
            <a:r>
              <a:rPr lang="ar-SA" altLang="en-US" sz="1900" dirty="0">
                <a:solidFill>
                  <a:srgbClr val="586761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رسوم التركيب: 150 دينارًا لكل شاحنة، سعر تجريبي مقترح لمرة واحدة</a:t>
            </a:r>
            <a:endParaRPr lang="ar-SA" sz="1900" dirty="0"/>
          </a:p>
        </p:txBody>
      </p:sp>
      <p:sp>
        <p:nvSpPr>
          <p:cNvPr id="23" name="Rectangle 22"/>
          <p:cNvSpPr/>
          <p:nvPr/>
        </p:nvSpPr>
        <p:spPr>
          <a:xfrm>
            <a:off x="10955216" y="6510704"/>
            <a:ext cx="1160584" cy="290146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144" y="1535113"/>
            <a:ext cx="9143771" cy="561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3400" b="1" dirty="0">
                <a:solidFill>
                  <a:srgbClr val="0E2A23"/>
                </a:solidFill>
                <a:latin typeface="Amiri Bold" pitchFamily="34" charset="0"/>
                <a:ea typeface="Amiri Bold" pitchFamily="34" charset="-122"/>
                <a:cs typeface="Amiri Bold" pitchFamily="34" charset="-120"/>
              </a:rPr>
              <a:t>خطة التوسع على ثلاث مراحل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10058148" y="2432943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CBD1CC"/>
          </a:solidFill>
          <a:ln/>
        </p:spPr>
      </p:sp>
      <p:sp>
        <p:nvSpPr>
          <p:cNvPr id="4" name="Shape 2"/>
          <p:cNvSpPr/>
          <p:nvPr/>
        </p:nvSpPr>
        <p:spPr>
          <a:xfrm>
            <a:off x="8161729" y="2779018"/>
            <a:ext cx="3217187" cy="2543770"/>
          </a:xfrm>
          <a:prstGeom prst="rect">
            <a:avLst/>
          </a:prstGeom>
          <a:solidFill>
            <a:srgbClr val="EEF0E8"/>
          </a:solidFill>
          <a:ln/>
        </p:spPr>
      </p:sp>
      <p:sp>
        <p:nvSpPr>
          <p:cNvPr id="5" name="Text 3"/>
          <p:cNvSpPr/>
          <p:nvPr/>
        </p:nvSpPr>
        <p:spPr>
          <a:xfrm>
            <a:off x="9895334" y="3058418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41122" y="3845818"/>
            <a:ext cx="265840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تجربة ميدانية</a:t>
            </a:r>
            <a:endParaRPr lang="ar-SA" sz="2100" dirty="0"/>
          </a:p>
        </p:txBody>
      </p:sp>
      <p:sp>
        <p:nvSpPr>
          <p:cNvPr id="7" name="Text 5"/>
          <p:cNvSpPr/>
          <p:nvPr/>
        </p:nvSpPr>
        <p:spPr>
          <a:xfrm>
            <a:off x="8161729" y="4395688"/>
            <a:ext cx="321718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مصدّر واحد وشاحنة إلى ثلاث شاحنات</a:t>
            </a:r>
            <a:endParaRPr lang="ar-SA" sz="1700" dirty="0"/>
          </a:p>
        </p:txBody>
      </p:sp>
      <p:sp>
        <p:nvSpPr>
          <p:cNvPr id="8" name="Shape 6"/>
          <p:cNvSpPr/>
          <p:nvPr/>
        </p:nvSpPr>
        <p:spPr>
          <a:xfrm>
            <a:off x="4487254" y="2779018"/>
            <a:ext cx="3217286" cy="2543770"/>
          </a:xfrm>
          <a:prstGeom prst="rect">
            <a:avLst/>
          </a:prstGeom>
          <a:solidFill>
            <a:srgbClr val="EEF0E8"/>
          </a:solidFill>
          <a:ln/>
        </p:spPr>
      </p:sp>
      <p:sp>
        <p:nvSpPr>
          <p:cNvPr id="9" name="Text 7"/>
          <p:cNvSpPr/>
          <p:nvPr/>
        </p:nvSpPr>
        <p:spPr>
          <a:xfrm>
            <a:off x="6220959" y="3058418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66647" y="3845818"/>
            <a:ext cx="265850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إثبات الأثر</a:t>
            </a:r>
            <a:endParaRPr lang="ar-SA" sz="2100" dirty="0"/>
          </a:p>
        </p:txBody>
      </p:sp>
      <p:sp>
        <p:nvSpPr>
          <p:cNvPr id="11" name="Text 9"/>
          <p:cNvSpPr/>
          <p:nvPr/>
        </p:nvSpPr>
        <p:spPr>
          <a:xfrm>
            <a:off x="4766647" y="4395688"/>
            <a:ext cx="2658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مقارنة الوصول والجودة والفاقد مع شحنات مشابهة</a:t>
            </a:r>
            <a:endParaRPr lang="ar-SA" sz="1700" dirty="0"/>
          </a:p>
        </p:txBody>
      </p:sp>
      <p:sp>
        <p:nvSpPr>
          <p:cNvPr id="12" name="Shape 10"/>
          <p:cNvSpPr/>
          <p:nvPr/>
        </p:nvSpPr>
        <p:spPr>
          <a:xfrm>
            <a:off x="812780" y="2779018"/>
            <a:ext cx="3217286" cy="2543770"/>
          </a:xfrm>
          <a:prstGeom prst="rect">
            <a:avLst/>
          </a:prstGeom>
          <a:solidFill>
            <a:srgbClr val="EEF0E8"/>
          </a:solidFill>
          <a:ln/>
        </p:spPr>
      </p:sp>
      <p:sp>
        <p:nvSpPr>
          <p:cNvPr id="13" name="Text 11"/>
          <p:cNvSpPr/>
          <p:nvPr/>
        </p:nvSpPr>
        <p:spPr>
          <a:xfrm>
            <a:off x="2546485" y="3058418"/>
            <a:ext cx="1204188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83000"/>
              </a:lnSpc>
              <a:buNone/>
            </a:pPr>
            <a:r>
              <a:rPr lang="en-US" sz="4400" dirty="0">
                <a:solidFill>
                  <a:srgbClr val="58676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092173" y="3845818"/>
            <a:ext cx="265850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8000"/>
              </a:lnSpc>
              <a:buNone/>
            </a:pPr>
            <a:r>
              <a:rPr lang="ar-SA" altLang="en-US" sz="2100" dirty="0">
                <a:solidFill>
                  <a:srgbClr val="0E2A23"/>
                </a:solidFill>
                <a:latin typeface="Beiruti SemiBold" pitchFamily="34" charset="0"/>
                <a:ea typeface="Beiruti SemiBold" pitchFamily="34" charset="-122"/>
                <a:cs typeface="Beiruti SemiBold" pitchFamily="34" charset="-120"/>
              </a:rPr>
              <a:t>التوسع</a:t>
            </a:r>
            <a:endParaRPr lang="ar-SA" sz="2100" dirty="0"/>
          </a:p>
        </p:txBody>
      </p:sp>
      <p:sp>
        <p:nvSpPr>
          <p:cNvPr id="15" name="Text 13"/>
          <p:cNvSpPr/>
          <p:nvPr/>
        </p:nvSpPr>
        <p:spPr>
          <a:xfrm>
            <a:off x="812780" y="4395688"/>
            <a:ext cx="321728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ar-SA" altLang="en-US" sz="1700" dirty="0">
                <a:solidFill>
                  <a:srgbClr val="0E2A23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محاصيل وعملاء ومسارات جديدة</a:t>
            </a:r>
            <a:endParaRPr lang="ar-SA" sz="1700" dirty="0"/>
          </a:p>
        </p:txBody>
      </p:sp>
      <p:sp>
        <p:nvSpPr>
          <p:cNvPr id="16" name="Rectangle 15"/>
          <p:cNvSpPr/>
          <p:nvPr/>
        </p:nvSpPr>
        <p:spPr>
          <a:xfrm>
            <a:off x="10955216" y="6510704"/>
            <a:ext cx="1160584" cy="290146"/>
          </a:xfrm>
          <a:prstGeom prst="rect">
            <a:avLst/>
          </a:prstGeom>
          <a:solidFill>
            <a:srgbClr val="FAF8F2"/>
          </a:solidFill>
          <a:ln>
            <a:solidFill>
              <a:srgbClr val="FAF8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594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Amiri</vt:lpstr>
      <vt:lpstr>Beiruti Medium</vt:lpstr>
      <vt:lpstr>Beiruti</vt:lpstr>
      <vt:lpstr>Beiruti SemiBold</vt:lpstr>
      <vt:lpstr>Amiri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3</cp:revision>
  <dcterms:created xsi:type="dcterms:W3CDTF">2026-10-10T08:10:35Z</dcterms:created>
  <dcterms:modified xsi:type="dcterms:W3CDTF">2026-10-10T08:28:26Z</dcterms:modified>
</cp:coreProperties>
</file>